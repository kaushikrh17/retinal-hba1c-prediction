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450" r:id="rId3"/>
    <p:sldId id="456" r:id="rId4"/>
    <p:sldId id="352" r:id="rId5"/>
    <p:sldId id="453" r:id="rId6"/>
    <p:sldId id="460" r:id="rId7"/>
    <p:sldId id="454" r:id="rId8"/>
    <p:sldId id="455" r:id="rId9"/>
    <p:sldId id="451" r:id="rId10"/>
    <p:sldId id="458" r:id="rId11"/>
    <p:sldId id="459" r:id="rId12"/>
    <p:sldId id="274" r:id="rId13"/>
    <p:sldId id="44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ison jacob" initials="jj" lastIdx="1" clrIdx="0">
    <p:extLst>
      <p:ext uri="{19B8F6BF-5375-455C-9EA6-DF929625EA0E}">
        <p15:presenceInfo xmlns:p15="http://schemas.microsoft.com/office/powerpoint/2012/main" userId="71e27a1278406d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F9FD"/>
    <a:srgbClr val="EAF2FA"/>
    <a:srgbClr val="00153E"/>
    <a:srgbClr val="F7E9E7"/>
    <a:srgbClr val="D34817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5196" autoAdjust="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1A9727-EA4D-4A62-95C7-AFCEFED2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FC8BA-2E36-4E17-A2DD-362AE24332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DE795-0B0E-4B59-93E7-58A127F28B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1B258-9CA5-466A-808F-0B843F0B41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2021 International Conference on COmputational Performance Evaluation (ComPE)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461F4-0FE5-47F2-ABC6-1A4F4B0F1F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C070E-BD43-41D0-8D7C-4A72194B0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3691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16390-F341-47AC-9D35-35392A8429CA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2021 International Conference on COmputational Performance Evaluation (ComPE)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07A74-6C05-4886-A5A7-369599D80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2889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GAIT ANALYSIS</a:t>
            </a:r>
            <a:r>
              <a:rPr lang="en-US" baseline="0" dirty="0"/>
              <a:t> AND PULL TEST.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818085-DADD-4D4B-8165-DAB4A7A69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74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FDF8-DB39-10FF-7D5B-58612A02C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BE646-31EB-A503-F7A3-CD974580C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DE446-FDF5-1E31-5C47-B70902F8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0D71-F3ED-4653-807B-3FAD04B5D1F3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28874-3A11-8E9A-63B4-68622E6A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5E1D-F426-998B-2DCC-86489212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33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ADF9C-9A80-6B8C-E569-E224821C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37FA-F755-817A-9016-41CBCE285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B80ED-3E94-E8D9-84C3-0BB4CED3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300C-EF75-48FF-A192-40B34776DAF0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7861F-649B-ED2A-903E-368D503C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1020E-54C1-F29B-6983-AB22BE1D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2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8F0A-E78B-9C9B-C01B-69C50382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259CE-B734-68C2-CAF3-00CCBAEF5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E5CA5-AA02-D05C-CBAD-FB0945F7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3C38-9BE2-48D7-9DA4-3059A7F57B81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35205-9B65-D8BE-9921-6B0B90A4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5B9DB-2091-A891-DDD7-9E3C9C9E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0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84FB-676B-8825-306F-70FB25E2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176D3-1B8E-6D63-C417-D7D73DD20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E606F-2219-415A-B1C5-7C471E3D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82B4E-6CA4-6EE8-31A1-43B5CC8C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1531-A0AF-455A-B805-94AD44DA7308}" type="datetime1">
              <a:rPr lang="en-US" smtClean="0"/>
              <a:t>2/26/2026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015E3-655A-3487-716C-A8C26951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75A52-5CB4-8BF3-7E4F-F0A095BD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2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0FFF-105D-1563-97E8-63463727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6678-FDBA-E1DA-ED39-4F722B2FE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3BBA9-DB11-88A9-C84E-008F4C61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AF4C0-5D31-7E95-5DF2-01270F443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2D18F-90BD-2C36-1AFA-C401ADFA8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BA064-FBEF-89CD-F687-C5E65035E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832BE-2600-474A-9DD3-BBB2FC527AC4}" type="datetime1">
              <a:rPr lang="en-US" smtClean="0"/>
              <a:t>2/26/2026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D5702-F463-3D49-ED61-C50AF8A3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85F3C-2AC0-5398-2E29-D620BED3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53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86B5-4E8C-AA72-5979-8C43F6DE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DE31F-0255-4F38-E42A-305A58A9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132F-F5E4-46E6-8696-A6714ECEADE6}" type="datetime1">
              <a:rPr lang="en-US" smtClean="0"/>
              <a:t>2/26/2026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706B0-D034-9374-FE70-06E280B4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9BC56-3B7E-42A4-88A2-8E924729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0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71B87-5ECE-19A3-4D5A-EA2446FF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C36E-C9AB-4C82-9611-7999000AFDA4}" type="datetime1">
              <a:rPr lang="en-US" smtClean="0"/>
              <a:t>2/26/2026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64681-9417-D7C7-B15A-8D6790AD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1BD18-0CB7-F735-B591-31041160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3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0F55-FA6F-9349-2E78-97D5078B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9B1E-304E-CE0C-9D38-4089FC56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CA935-AFD4-4DD2-95C4-21624F387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86515-4C16-8F51-DAE4-7740547AB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AE9B-83B9-45A8-AE00-13D88477E84C}" type="datetime1">
              <a:rPr lang="en-US" smtClean="0"/>
              <a:t>2/26/2026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7C28D-0563-9C88-8B10-D2A625A7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2CC95-A407-8AE4-A763-16A33FCF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8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B165-9775-8FB3-FA62-D0E0932B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8B79F-F72B-2B90-3384-FF36CF130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5776D-F99A-67DE-90C7-C5D8CD135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EC439-0B2F-E011-37DA-01A7AD23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3578-9E5C-482F-A607-4B967A9570C6}" type="datetime1">
              <a:rPr lang="en-US" smtClean="0"/>
              <a:t>2/26/2026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2E3C7-215F-024E-7B4C-4DDF5D36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5005E-A650-0E2A-6BF7-470A4749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1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40E8-DBF0-19A8-B228-F197F541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2FFEB-D6B1-AC47-686A-BA5FC416B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671D0-6CE3-B317-B0DD-32A74520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B5D-3ACC-4A08-9EB0-470A5266ADE2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3476B-D8CA-8258-C85B-82F10D5C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D3B92-2C05-3EB6-26D7-D1D5EBF2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69019-8A1F-6736-D42C-B558EA767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140AB-7A32-287D-107F-C5B84B9A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F740D-4F36-7A7D-937E-DC148AAF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1F30-C573-450E-B325-FDDFD1512A53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84EE-5067-E6B9-538A-786D9833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698D-D12A-AB68-8F0D-EBA3E2AF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05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A0CBBA-052F-18A2-B50F-E2E57638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7B70E-A907-3462-5366-A80325D2C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4977-15A3-EC8D-9537-B1BD85CFB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B52F7-D770-4AE9-AD73-322982B109D5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203A-60DC-B082-B0F4-0EEF23E5F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E2AC4-F74F-44ED-D413-88C347CB8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F5DC6-9E37-401A-8519-FEC038CF7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nishtha.jain2022@vitstudent.ac.in" TargetMode="External"/><Relationship Id="rId7" Type="http://schemas.openxmlformats.org/officeDocument/2006/relationships/image" Target="../media/image2.png"/><Relationship Id="rId2" Type="http://schemas.openxmlformats.org/officeDocument/2006/relationships/hyperlink" Target="mailto:kaushik.rharan2022@vitstudent.ac.i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mailto:priyomedha.ghosh2022@vitstudent.ac.in" TargetMode="External"/><Relationship Id="rId10" Type="http://schemas.openxmlformats.org/officeDocument/2006/relationships/image" Target="../media/image5.png"/><Relationship Id="rId4" Type="http://schemas.openxmlformats.org/officeDocument/2006/relationships/hyperlink" Target="mailto:sohamamit.khare2022@vitstudent.ac.in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954D-D883-469E-999D-585CAC4B3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663" y="1314297"/>
            <a:ext cx="12192000" cy="2055966"/>
          </a:xfrm>
        </p:spPr>
        <p:txBody>
          <a:bodyPr>
            <a:noAutofit/>
          </a:bodyPr>
          <a:lstStyle/>
          <a:p>
            <a:r>
              <a:rPr lang="en-US" sz="320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Sitka Small Semibold" pitchFamily="2" charset="0"/>
              </a:rPr>
              <a:t>HbA1c Prediction from Retinal Fundus Images</a:t>
            </a:r>
            <a:br>
              <a:rPr lang="en-US" sz="320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Sitka Small Semibold" pitchFamily="2" charset="0"/>
              </a:rPr>
            </a:br>
            <a:r>
              <a:rPr lang="en-US" sz="320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Sitka Small Semibold" pitchFamily="2" charset="0"/>
              </a:rPr>
              <a:t>Using Multimodal Deep Feature Fusion and Ridge</a:t>
            </a:r>
            <a:br>
              <a:rPr lang="en-US" sz="320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Sitka Small Semibold" pitchFamily="2" charset="0"/>
              </a:rPr>
            </a:br>
            <a:r>
              <a:rPr lang="en-US" sz="320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Sitka Small Semibold" pitchFamily="2" charset="0"/>
              </a:rPr>
              <a:t>Regression</a:t>
            </a:r>
            <a:br>
              <a:rPr lang="en-US" sz="32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Sitka Small Semibold" pitchFamily="2" charset="0"/>
              </a:rPr>
            </a:br>
            <a:endParaRPr lang="en-IN" sz="3200" dirty="0">
              <a:solidFill>
                <a:schemeClr val="accent1">
                  <a:lumMod val="75000"/>
                </a:schemeClr>
              </a:solidFill>
              <a:latin typeface="Sitka Small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7B0EACC-BD06-44B5-B429-F5BBB81E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500E-109C-463A-8A6F-192AB85C91EB}" type="datetime1">
              <a:rPr lang="en-US" smtClean="0"/>
              <a:t>2/26/2026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2698A-B81A-41F8-9272-77E0311C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598" y="6459784"/>
            <a:ext cx="4822804" cy="365125"/>
          </a:xfrm>
        </p:spPr>
        <p:txBody>
          <a:bodyPr/>
          <a:lstStyle/>
          <a:p>
            <a:r>
              <a:rPr lang="en-US" sz="1000"/>
              <a:t>National Level Conference on Biomedical &amp; Computing Technologies</a:t>
            </a:r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5A966-F1B4-4918-8F03-736C08FE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1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3AE68-5E5F-4D14-AC91-91347ACF0294}"/>
              </a:ext>
            </a:extLst>
          </p:cNvPr>
          <p:cNvSpPr txBox="1"/>
          <p:nvPr/>
        </p:nvSpPr>
        <p:spPr>
          <a:xfrm>
            <a:off x="154244" y="3568808"/>
            <a:ext cx="66955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effectLst/>
              </a:rPr>
              <a:t>School of Electronics Engineering (SENSE)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</a:rPr>
              <a:t>V</a:t>
            </a:r>
            <a:r>
              <a:rPr lang="en-US" sz="1600" dirty="0">
                <a:solidFill>
                  <a:srgbClr val="C00000"/>
                </a:solidFill>
                <a:effectLst/>
              </a:rPr>
              <a:t>ellore Institute of Technology ,Vellore, India- 632014.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C00000"/>
                </a:solidFill>
                <a:effectLst/>
              </a:rPr>
              <a:t>Kaushik R Haran  (</a:t>
            </a:r>
            <a:r>
              <a:rPr lang="en-US" sz="1600" dirty="0">
                <a:solidFill>
                  <a:srgbClr val="C00000"/>
                </a:solidFill>
                <a:hlinkClick r:id="rId2"/>
              </a:rPr>
              <a:t>kaushik.rharan2022@vitstudent.ac.in</a:t>
            </a:r>
            <a:r>
              <a:rPr lang="en-IN" sz="1600" dirty="0">
                <a:solidFill>
                  <a:srgbClr val="C00000"/>
                </a:solidFill>
              </a:rPr>
              <a:t> )</a:t>
            </a:r>
            <a:endParaRPr lang="en-IN" sz="1600" dirty="0">
              <a:solidFill>
                <a:srgbClr val="C00000"/>
              </a:solidFill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C00000"/>
                </a:solidFill>
                <a:effectLst/>
              </a:rPr>
              <a:t>Nishtha Jain (</a:t>
            </a:r>
            <a:r>
              <a:rPr lang="en-IN" sz="1600" dirty="0">
                <a:hlinkClick r:id="rId3"/>
              </a:rPr>
              <a:t>nishtha.jain2022@vitstudent.ac.in</a:t>
            </a:r>
            <a:r>
              <a:rPr lang="en-IN" sz="1600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C00000"/>
                </a:solidFill>
                <a:effectLst/>
              </a:rPr>
              <a:t>Soham Khare (</a:t>
            </a:r>
            <a:r>
              <a:rPr lang="en-IN" sz="1600" dirty="0">
                <a:hlinkClick r:id="rId4"/>
              </a:rPr>
              <a:t>sohamamit.khare2022@vitstudent.ac.in</a:t>
            </a:r>
            <a:r>
              <a:rPr lang="en-IN" sz="1600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C00000"/>
                </a:solidFill>
                <a:effectLst/>
              </a:rPr>
              <a:t>Priyomedha Ghosh (</a:t>
            </a:r>
            <a:r>
              <a:rPr lang="en-IN" sz="1600" dirty="0">
                <a:hlinkClick r:id="rId5"/>
              </a:rPr>
              <a:t>priyomedha.ghosh2022@vitstudent.ac.in</a:t>
            </a:r>
            <a:r>
              <a:rPr lang="en-IN" sz="1600" dirty="0">
                <a:solidFill>
                  <a:srgbClr val="C00000"/>
                </a:solidFill>
              </a:rPr>
              <a:t>)</a:t>
            </a:r>
            <a:endParaRPr lang="en-IN" sz="1600" dirty="0">
              <a:solidFill>
                <a:srgbClr val="C00000"/>
              </a:solidFill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C00000"/>
              </a:solidFill>
              <a:effectLst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BC835-2DBB-4C1A-BFCE-A3C45DC66232}"/>
              </a:ext>
            </a:extLst>
          </p:cNvPr>
          <p:cNvSpPr txBox="1"/>
          <p:nvPr/>
        </p:nvSpPr>
        <p:spPr>
          <a:xfrm>
            <a:off x="8217937" y="4399805"/>
            <a:ext cx="373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guidance:</a:t>
            </a:r>
          </a:p>
          <a:p>
            <a:pPr algn="r">
              <a:buFont typeface="Arial" panose="020B0604020202020204" pitchFamily="34" charset="0"/>
              <a:buNone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Jeeva J.B.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Senior</a:t>
            </a:r>
          </a:p>
          <a:p>
            <a:pPr algn="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Electronics Engineering</a:t>
            </a:r>
          </a:p>
          <a:p>
            <a:pPr algn="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and Biomedical Technology</a:t>
            </a:r>
          </a:p>
        </p:txBody>
      </p:sp>
      <p:pic>
        <p:nvPicPr>
          <p:cNvPr id="6" name="图片">
            <a:extLst>
              <a:ext uri="{FF2B5EF4-FFF2-40B4-BE49-F238E27FC236}">
                <a16:creationId xmlns:a16="http://schemas.microsoft.com/office/drawing/2014/main" id="{D902BF88-7077-3EE5-E849-3C5742F57B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0" y="0"/>
            <a:ext cx="4268476" cy="792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6774CA-765D-18BE-976C-4D4EBD28ECA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342" y="63768"/>
            <a:ext cx="2330245" cy="6645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75FAD5-4F2A-0192-41B2-7431DDE23B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519" y="-274192"/>
            <a:ext cx="1642324" cy="17955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9BEA64-8348-296A-B4C1-AC8D41DF77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61" b="24974"/>
          <a:stretch>
            <a:fillRect/>
          </a:stretch>
        </p:blipFill>
        <p:spPr>
          <a:xfrm>
            <a:off x="5364134" y="63768"/>
            <a:ext cx="1642324" cy="1007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8EE2C-B417-B1F6-F5D1-2971D22A78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9843" y="86185"/>
            <a:ext cx="1367913" cy="1074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202C87-CC28-E2FD-3486-806CB3AE839E}"/>
              </a:ext>
            </a:extLst>
          </p:cNvPr>
          <p:cNvSpPr txBox="1"/>
          <p:nvPr/>
        </p:nvSpPr>
        <p:spPr>
          <a:xfrm>
            <a:off x="232663" y="3071544"/>
            <a:ext cx="1146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 : 101</a:t>
            </a:r>
          </a:p>
        </p:txBody>
      </p:sp>
    </p:spTree>
    <p:extLst>
      <p:ext uri="{BB962C8B-B14F-4D97-AF65-F5344CB8AC3E}">
        <p14:creationId xmlns:p14="http://schemas.microsoft.com/office/powerpoint/2010/main" val="205227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A0E1-5005-59E6-8F6F-A73F8B06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Sitka Small Semibold" pitchFamily="2" charset="0"/>
              </a:rPr>
              <a:t>Introduction</a:t>
            </a:r>
            <a:endParaRPr lang="en-IN" b="1" dirty="0">
              <a:solidFill>
                <a:srgbClr val="002060"/>
              </a:solidFill>
              <a:latin typeface="Sitka Small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7B2F-3F65-EC27-8328-06D521AF2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56" y="1778972"/>
            <a:ext cx="10515600" cy="4351338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Diabetes Mellitus (DM) affects ~830 million people worldwide.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HbA1c is the gold standard biomarker for long-term glycemic control.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HbA1c testing requires invasive blood sampling and lab infrastructure.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Retinal fundus imaging provides non-invasive visualization of microvasculature.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Deep learning enables extraction of systemic biomarkers from retinal images.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This work explores non-invasive HbA1c prediction using multimodal deep learning.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6C52B-6EDA-E3E2-F9C7-15542D26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DBDED-5558-4C28-B5D3-29EA48859516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18D-E446-CA23-11DD-622174E3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National Level Conference on Biomedical &amp; Computing Technologies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CAFB2-B9AC-AD99-24E1-8D60E2C7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2</a:t>
            </a:fld>
            <a:endParaRPr lang="en-IN"/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17F3EE66-9FBD-CCE5-0FF6-C9A2E88B65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44F4D-BCBD-E070-EAAF-AED813BDE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5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921-3192-1E05-8D8E-49231FAD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C2E8-30F8-4CBA-785E-D6C9C39F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Sitka Small Semibold" pitchFamily="2" charset="0"/>
              </a:rPr>
              <a:t>Problem Statement</a:t>
            </a:r>
            <a:endParaRPr lang="en-IN" b="1" dirty="0">
              <a:solidFill>
                <a:srgbClr val="002060"/>
              </a:solidFill>
              <a:latin typeface="Sitka Small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2FC9-F219-CB52-10F3-28D6A3BCC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78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HbA1c measurement requires venepuncture and laboratory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Limited accessibility in rural and resource-constrained regions.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Most retinal AI studies focus on DR classification — not continuous HbA1c regression.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Small medical datasets risk overfitting in deep models.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Need for: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2800" dirty="0"/>
              <a:t>Leakage-free evaluation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2800" dirty="0"/>
              <a:t>Interpretable regression model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2800" dirty="0"/>
              <a:t>Multimodal integration (image + metadata)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AFCA9-9C0E-7860-C258-068A5672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DBDED-5558-4C28-B5D3-29EA48859516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32A17-7345-3025-A76D-60BC018D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National Level Conference on Biomedical &amp; Computing Technologies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ECBE7-AE76-63E0-44B8-D8D9B2A6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3</a:t>
            </a:fld>
            <a:endParaRPr lang="en-IN"/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0384DFCE-3752-D158-1C39-01D760438A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F2B086-0652-7AC1-2DE9-109149EDB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3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388" y="547061"/>
            <a:ext cx="10515600" cy="1099177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solidFill>
                  <a:srgbClr val="002060"/>
                </a:solidFill>
                <a:latin typeface="Sitka Small Semibold" pitchFamily="2" charset="0"/>
                <a:cs typeface="Times New Roman" panose="02020603050405020304" pitchFamily="18" charset="0"/>
              </a:rP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753" y="1574836"/>
            <a:ext cx="11530408" cy="8699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non-invasive multimodal deep learning framework for predicting continuous HbA1c levels from retinal fundus images using demographic metadata and Ridge Regression under strict LOOCV evaluation.</a:t>
            </a:r>
          </a:p>
        </p:txBody>
      </p:sp>
      <p:sp>
        <p:nvSpPr>
          <p:cNvPr id="8" name="Date Placeholder 12">
            <a:extLst>
              <a:ext uri="{FF2B5EF4-FFF2-40B4-BE49-F238E27FC236}">
                <a16:creationId xmlns:a16="http://schemas.microsoft.com/office/drawing/2014/main" id="{B6472B99-E7BE-919E-07E6-4392ECD9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35F3-3D15-4ADD-9617-D12DEB62FB91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2/26/2026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802FB08-9AC0-F441-8BFF-24446B9B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598" y="6459784"/>
            <a:ext cx="4822804" cy="365125"/>
          </a:xfrm>
        </p:spPr>
        <p:txBody>
          <a:bodyPr/>
          <a:lstStyle/>
          <a:p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National Level Conference on Biomedical &amp; Computing Technologies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65DA-873A-4E81-9D6C-553E1794605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84C94-AB4B-92D0-C180-A2CBA0EA31AE}"/>
              </a:ext>
            </a:extLst>
          </p:cNvPr>
          <p:cNvSpPr txBox="1"/>
          <p:nvPr/>
        </p:nvSpPr>
        <p:spPr>
          <a:xfrm>
            <a:off x="515733" y="2675771"/>
            <a:ext cx="7472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solidFill>
                  <a:srgbClr val="002060"/>
                </a:solidFill>
                <a:latin typeface="Sitka Small Semibold" pitchFamily="2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solidFill>
                <a:srgbClr val="002060"/>
              </a:solidFill>
              <a:latin typeface="Sitka Small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E77D69-5664-A35B-36D1-8E46CC46855C}"/>
              </a:ext>
            </a:extLst>
          </p:cNvPr>
          <p:cNvSpPr txBox="1">
            <a:spLocks/>
          </p:cNvSpPr>
          <p:nvPr/>
        </p:nvSpPr>
        <p:spPr>
          <a:xfrm>
            <a:off x="407297" y="3341825"/>
            <a:ext cx="9912360" cy="289844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deep retinal features using pretrained ResNet-18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image preprocessing (bilateral filtering + normalization)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 deep embeddings with age and gender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Ridge Regression to prevent overfitting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 LOOCV (n=26)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clinical agreement analysis (Bland–Altman, Clarke Grid)</a:t>
            </a:r>
            <a:endParaRPr 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">
            <a:extLst>
              <a:ext uri="{FF2B5EF4-FFF2-40B4-BE49-F238E27FC236}">
                <a16:creationId xmlns:a16="http://schemas.microsoft.com/office/drawing/2014/main" id="{E07A0635-0DB0-C5EF-EBE2-F1E84039E6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5A32346-8EF0-E798-D4FA-8716099131B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en-IN" b="1" dirty="0">
              <a:solidFill>
                <a:schemeClr val="accent1">
                  <a:lumMod val="75000"/>
                </a:schemeClr>
              </a:solidFill>
              <a:latin typeface="Sitka Small Semibold" pitchFamily="2" charset="0"/>
            </a:endParaRPr>
          </a:p>
        </p:txBody>
      </p:sp>
      <p:pic>
        <p:nvPicPr>
          <p:cNvPr id="14" name="图片">
            <a:extLst>
              <a:ext uri="{FF2B5EF4-FFF2-40B4-BE49-F238E27FC236}">
                <a16:creationId xmlns:a16="http://schemas.microsoft.com/office/drawing/2014/main" id="{92D7D5C9-C2D0-6C32-AF2E-16AB3F5224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739D28-664C-6317-830C-E59B299FE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3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86F5-810D-BA51-A472-15DBBED5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19407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Sitka Small Semibold" pitchFamily="2" charset="0"/>
              </a:rPr>
              <a:t>Literature Review</a:t>
            </a:r>
            <a:endParaRPr lang="en-IN" dirty="0">
              <a:solidFill>
                <a:srgbClr val="002060"/>
              </a:solidFill>
              <a:latin typeface="Sitka Small Semibold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31884-F367-AE5E-6841-80BC50D8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BF54-D5EB-417C-AAAA-07EAE53EB2F2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BCF94-B052-BA66-15AA-F486CA70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5561B-0BAD-BD0A-7523-BB143FF4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DEF9E8-7EC2-3536-3CE6-0D22BA25D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571581"/>
              </p:ext>
            </p:extLst>
          </p:nvPr>
        </p:nvGraphicFramePr>
        <p:xfrm>
          <a:off x="197224" y="1335741"/>
          <a:ext cx="11783281" cy="5328183"/>
        </p:xfrm>
        <a:graphic>
          <a:graphicData uri="http://schemas.openxmlformats.org/drawingml/2006/table">
            <a:tbl>
              <a:tblPr firstRow="1" bandRow="1"/>
              <a:tblGrid>
                <a:gridCol w="9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2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5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7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Key Points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4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+mn-lt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Development of oculomics artificial intelligence for cardiovascular risk factors: A case study in fundus oculomics for HbA1c assessment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/>
                        <a:t>J. Ong et al.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Asia-Pac. J. Ophthalmol. (2024) Vol. 13, Art. 100095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Fundus-based HbA1c estimation using AI;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highlights clinical feasibility and interpretability concerns</a:t>
                      </a:r>
                      <a:endParaRPr lang="en-US" sz="1400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4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+mn-lt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Development and validation of a deep learning algorithm for detection of diabetic retinopathy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/>
                        <a:t>V. Gulshan et al.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dirty="0"/>
                        <a:t>JAMA (2016) Vol. 316, No. 22, pp. 2402–2410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283464" marR="0" lvl="0" indent="-283464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4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Large-scale CNN for automated DR detection; demonstrated high sensitivity and specificity; established clinical validation of retinal deep learning models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+mn-lt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Deep residual learning for image recognition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K. He, X. Zhang, S. Ren, J. Sun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/>
                        <a:t>Proc. IEEE CVPR (2016)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Introduced ResNet architecture; </a:t>
                      </a:r>
                    </a:p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enables deep feature extraction (used in this study)</a:t>
                      </a:r>
                      <a:endParaRPr lang="en-IN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9" marR="54029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22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+mn-lt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sz="1400" dirty="0"/>
                        <a:t>Regularization and variable selection via the elastic net</a:t>
                      </a:r>
                      <a:endParaRPr lang="en-US" sz="1400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H. Zou, T. Hastie</a:t>
                      </a:r>
                      <a:endParaRPr lang="en-US" sz="1400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IN" sz="1400" dirty="0"/>
                        <a:t>J. R. Stat. Soc. B (2005) 67(2):301–320</a:t>
                      </a:r>
                      <a:endParaRPr lang="en-US" sz="1400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Regularization theory; </a:t>
                      </a:r>
                    </a:p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Ridge/Elastic Net methods for preventing overfitting</a:t>
                      </a:r>
                      <a:endParaRPr lang="en-IN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9" marR="54029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22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HbA1c-dependent projection of long-term renal outcomes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F. Arnold et al.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s-ES" sz="1400" dirty="0">
                          <a:latin typeface="+mn-lt"/>
                        </a:rPr>
                        <a:t> </a:t>
                      </a:r>
                      <a:r>
                        <a:rPr lang="sv-SE" sz="1400" dirty="0"/>
                        <a:t>J. Intern. Med. (2024) 295(2):206–215</a:t>
                      </a:r>
                      <a:endParaRPr lang="en-US" sz="1400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Demonstrates clinical importance of HbA1c as systemic risk predictor</a:t>
                      </a:r>
                      <a:endParaRPr lang="en-IN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9" marR="54029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图片">
            <a:extLst>
              <a:ext uri="{FF2B5EF4-FFF2-40B4-BE49-F238E27FC236}">
                <a16:creationId xmlns:a16="http://schemas.microsoft.com/office/drawing/2014/main" id="{C635037B-EAB5-96EF-B6AC-7740F3D539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596D82-17E5-8404-9A31-B17F74A14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4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06DD-F0B4-C02E-D97F-84626881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Novelty 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72470-6730-B0CD-1774-5086ABFE1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56" y="156939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Research Gap:</a:t>
            </a:r>
          </a:p>
          <a:p>
            <a:r>
              <a:rPr lang="en-IN" dirty="0"/>
              <a:t>Most studies → DR classification</a:t>
            </a:r>
          </a:p>
          <a:p>
            <a:r>
              <a:rPr lang="en-IN" dirty="0"/>
              <a:t>Few → Continuous HbA1c regression</a:t>
            </a:r>
          </a:p>
          <a:p>
            <a:r>
              <a:rPr lang="en-IN" dirty="0"/>
              <a:t>Ignore structured metadata</a:t>
            </a:r>
          </a:p>
          <a:p>
            <a:r>
              <a:rPr lang="en-IN" dirty="0"/>
              <a:t>Weak validation strategies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Our work:</a:t>
            </a:r>
          </a:p>
          <a:p>
            <a:r>
              <a:rPr lang="en-US" dirty="0"/>
              <a:t>Multimodal feature fusion (image + age + gender)</a:t>
            </a:r>
          </a:p>
          <a:p>
            <a:r>
              <a:rPr lang="en-US" dirty="0"/>
              <a:t>Subject-level embedding averaging</a:t>
            </a:r>
          </a:p>
          <a:p>
            <a:r>
              <a:rPr lang="en-US" dirty="0"/>
              <a:t>Leakage-free LOOCV protocol</a:t>
            </a:r>
          </a:p>
          <a:p>
            <a:r>
              <a:rPr lang="en-US" dirty="0"/>
              <a:t>Ridge Regression for small-sample robustness</a:t>
            </a:r>
          </a:p>
          <a:p>
            <a:r>
              <a:rPr lang="en-US" dirty="0"/>
              <a:t>Clinical interpretability (Bland–Altman + Clarke Grid)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3D4EF-D5AB-BDB3-F885-CCB9851A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300C-EF75-48FF-A192-40B34776DAF0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DA6F-329B-BF71-6BED-BF0EFD2A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8D5B0-2D51-405B-7F7B-EB99246D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6</a:t>
            </a:fld>
            <a:endParaRPr lang="en-IN"/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CABB7A10-162F-5306-A9DE-8B6EB425C4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08D6D3-4130-CC46-BA08-E9CC24FEC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9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AD20-F1BE-ABCA-365C-EA94061C4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9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Sitka Small Semibold" pitchFamily="2" charset="0"/>
              </a:rPr>
              <a:t>Block diagram/Flow chart</a:t>
            </a:r>
            <a:endParaRPr lang="en-IN" dirty="0">
              <a:solidFill>
                <a:srgbClr val="002060"/>
              </a:solidFill>
              <a:latin typeface="Sitka Small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49AB-6C16-A9AB-DD56-9B5B52AB1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5" y="2045247"/>
            <a:ext cx="6187751" cy="39636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Pipeline:</a:t>
            </a:r>
          </a:p>
          <a:p>
            <a:r>
              <a:rPr lang="en-IN" sz="2000" dirty="0"/>
              <a:t>Fundus Image Acquisition</a:t>
            </a:r>
          </a:p>
          <a:p>
            <a:r>
              <a:rPr lang="en-IN" sz="2000" dirty="0"/>
              <a:t>Preprocessing (224×224 resizing, bilateral filtering)</a:t>
            </a:r>
          </a:p>
          <a:p>
            <a:r>
              <a:rPr lang="en-IN" sz="2000" dirty="0"/>
              <a:t>ResNet-18 feature extraction (512-D vector)</a:t>
            </a:r>
          </a:p>
          <a:p>
            <a:r>
              <a:rPr lang="en-IN" sz="2000" dirty="0"/>
              <a:t>Metadata fusion (Age + Gender → 514-D vector)</a:t>
            </a:r>
          </a:p>
          <a:p>
            <a:r>
              <a:rPr lang="en-IN" sz="2000" dirty="0"/>
              <a:t>Ridge Regression</a:t>
            </a:r>
          </a:p>
          <a:p>
            <a:r>
              <a:rPr lang="en-IN" sz="2000" dirty="0"/>
              <a:t>LOOCV Evaluation</a:t>
            </a:r>
          </a:p>
          <a:p>
            <a:r>
              <a:rPr lang="en-IN" sz="2000" dirty="0"/>
              <a:t>Clinical Agreement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C75BB-5362-A389-BA76-51FE650F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AE72-941C-4181-A8A8-2724C671830B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C8CEE-4925-D01D-6C6E-A3FCCBB1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9FE60-83E4-1825-129A-C4218905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7</a:t>
            </a:fld>
            <a:endParaRPr lang="en-IN"/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B18800D6-669B-CB2F-1120-D33AC67F3E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0" name="图片">
            <a:extLst>
              <a:ext uri="{FF2B5EF4-FFF2-40B4-BE49-F238E27FC236}">
                <a16:creationId xmlns:a16="http://schemas.microsoft.com/office/drawing/2014/main" id="{1418BD90-AF28-6E9A-99B0-55C7767266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6141C5-CA83-8D33-2C7C-B5DEF1C56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823D4-31F8-DF24-C741-D72AC265D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9" y="803729"/>
            <a:ext cx="5595242" cy="567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4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4B41-F7AF-D8DF-FC02-3C965756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Sitka Small Semibold" pitchFamily="2" charset="0"/>
              </a:rPr>
              <a:t>Methodology/Procedure</a:t>
            </a:r>
            <a:endParaRPr lang="en-IN" dirty="0">
              <a:solidFill>
                <a:srgbClr val="002060"/>
              </a:solidFill>
              <a:latin typeface="Sitka Small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039A-14BC-2212-41D0-9AD907FDE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31" y="1460500"/>
            <a:ext cx="10171922" cy="489585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Dataset of 26 subjects with fundus image, age, gender, and HbA1c value</a:t>
            </a:r>
          </a:p>
          <a:p>
            <a:r>
              <a:rPr lang="en-IN" dirty="0"/>
              <a:t>Images resized to 224×224, bilateral filtering applied, ImageNet normalization</a:t>
            </a:r>
          </a:p>
          <a:p>
            <a:r>
              <a:rPr lang="en-IN" dirty="0"/>
              <a:t>Deep features extracted using pretrained ResNet-18 (512-D embedding)</a:t>
            </a:r>
          </a:p>
          <a:p>
            <a:r>
              <a:rPr lang="en-IN" dirty="0"/>
              <a:t>Data augmentation (50 variations per subject); embeddings averaged to avoid duplication bias</a:t>
            </a:r>
          </a:p>
          <a:p>
            <a:r>
              <a:rPr lang="en-IN" dirty="0"/>
              <a:t>Multimodal fusion: concatenate deep features + age + gender → 514-D feature vector</a:t>
            </a:r>
          </a:p>
          <a:p>
            <a:r>
              <a:rPr lang="en-IN" dirty="0"/>
              <a:t>Ridge Regression used for HbA1c prediction to prevent overfitting</a:t>
            </a:r>
          </a:p>
          <a:p>
            <a:r>
              <a:rPr lang="en-IN" dirty="0"/>
              <a:t>Evaluated using Leave-One-Out Cross-Validation (LOOCV)</a:t>
            </a:r>
          </a:p>
          <a:p>
            <a:r>
              <a:rPr lang="en-IN" dirty="0"/>
              <a:t>Performance measured using MAE, RMSE, R², and clinical agreement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67167-8AAE-5491-E8E4-D4709E50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7C6D4-4B31-4AE7-901C-060D343C4081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86A3D-1B07-26F7-0E77-46743795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B53DC-18CD-BF76-B8F9-23600170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8</a:t>
            </a:fld>
            <a:endParaRPr lang="en-IN"/>
          </a:p>
        </p:txBody>
      </p:sp>
      <p:pic>
        <p:nvPicPr>
          <p:cNvPr id="16" name="图片">
            <a:extLst>
              <a:ext uri="{FF2B5EF4-FFF2-40B4-BE49-F238E27FC236}">
                <a16:creationId xmlns:a16="http://schemas.microsoft.com/office/drawing/2014/main" id="{6C057F77-D346-7AB9-EE91-1B2AEFC843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9E3C0D-21EC-1D47-11EC-BFA6001B8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F450-3BB3-2E98-07B5-B059DBFF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Sitka Small Semibold" pitchFamily="2" charset="0"/>
                <a:cs typeface="Arial" panose="020B0604020202020204" pitchFamily="34" charset="0"/>
              </a:rPr>
              <a:t>Result</a:t>
            </a:r>
            <a:endParaRPr lang="en-IN" b="1" dirty="0">
              <a:solidFill>
                <a:srgbClr val="002060"/>
              </a:solidFill>
              <a:latin typeface="Sitka Small Semi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66AA-1F43-A038-6E5A-A639B4081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" y="1601690"/>
            <a:ext cx="11832772" cy="456584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b="1" dirty="0"/>
              <a:t>LOOCV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MAE = 0.92%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RMSE = 1.28%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R² = 0.59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95% Bootstrap CI: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MAE: [0.63%, 1.30%]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RMSE: [0.76%, 1.77%]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R²: [0.30, 0.83]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Clinical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65.4% predictions in Clarke Grid Zone A &amp; 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 mean bias in Bland–Altman analysis</a:t>
            </a:r>
          </a:p>
          <a:p>
            <a:pPr marL="0" indent="0">
              <a:buNone/>
            </a:pPr>
            <a:endParaRPr lang="en-IN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49EDF-6D83-F390-4E52-4A246B65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70EF-069F-4877-A3C1-6AAA71CB246C}" type="datetime1">
              <a:rPr lang="en-US" smtClean="0"/>
              <a:t>2/26/2026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660B7-EF8D-5789-6DF2-11E76E63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74CE0-2028-1D9C-2234-84C13FC0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9</a:t>
            </a:fld>
            <a:endParaRPr lang="en-IN"/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FF6256EE-9A52-C99B-AB91-5C5DD55340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12971F-9BAA-5B62-1620-E7036F018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DC8915-3FB8-16A2-6B48-B610A71771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200" y="474984"/>
            <a:ext cx="2670631" cy="2976347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507C37-4BA3-DE2B-1CD3-39761751B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542" y="268965"/>
            <a:ext cx="2462058" cy="25226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97D6DE-9C3A-B2E6-D5F6-689575934C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389" y="3054144"/>
            <a:ext cx="3037329" cy="2411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1DCABB-EA7D-8E3F-C8F3-A42105360D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036" y="3636741"/>
            <a:ext cx="3297099" cy="26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0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2344-5349-B769-62F2-FB49DB4A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6B51-89C0-4F6B-B979-D8B977BF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Sitka Small Semibold" pitchFamily="2" charset="0"/>
                <a:cs typeface="Arial" panose="020B0604020202020204" pitchFamily="34" charset="0"/>
              </a:rPr>
              <a:t>Discussion</a:t>
            </a:r>
            <a:endParaRPr lang="en-IN" b="1" dirty="0">
              <a:solidFill>
                <a:srgbClr val="002060"/>
              </a:solidFill>
              <a:latin typeface="Sitka Small Semi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12C0B-E0B2-B7D4-CED5-5545D2CB1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8" y="1539551"/>
            <a:ext cx="11873842" cy="4816799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hyperglycemia causes retinal microvascular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 embeddings capture structural retinal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predictive correlation supports systemic-retinal link.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Implications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screening &amp; triage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replacement for lab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low-resource settings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(n=26)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age &amp; gender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validation</a:t>
            </a:r>
          </a:p>
          <a:p>
            <a:pPr marL="0" indent="0">
              <a:buNone/>
            </a:pPr>
            <a:endParaRPr lang="en-IN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37A4B-8D8E-1BEF-0888-CF1986BB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70EF-069F-4877-A3C1-6AAA71CB246C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8CD57-C92F-6BB6-3CA2-39AAC45A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9DCB-C554-0E37-DA49-3E21A9B2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10</a:t>
            </a:fld>
            <a:endParaRPr lang="en-IN"/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D7BDE1FC-3E4E-58FF-996D-349DA0E9F1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59DEE9-09EA-F907-C390-CDFDB66B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58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B953-C8FC-94D0-B1EE-B9959F9D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9022-706B-A513-430A-F6EC0455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Sitka Small Semibold" pitchFamily="2" charset="0"/>
                <a:cs typeface="Arial" panose="020B0604020202020204" pitchFamily="34" charset="0"/>
              </a:rPr>
              <a:t>Conclusion</a:t>
            </a:r>
            <a:endParaRPr lang="en-IN" b="1" dirty="0">
              <a:solidFill>
                <a:srgbClr val="002060"/>
              </a:solidFill>
              <a:latin typeface="Sitka Small Semi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54374-72DF-951B-5C09-7B2CFA80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59955" cy="272771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multimodal framework for non-invasive HbA1c estimation.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moderate performance under strict LOOCV.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Retinal morphology contains quantifiable glycemic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serves as proof-of-concept.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multi-center validation, larger datasets, nonlinear models.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B7FCA-DCB6-ECF1-26E6-41CF776D0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70EF-069F-4877-A3C1-6AAA71CB246C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CA55A-8B46-09B4-00DA-4FD95EA5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33828-1231-A75C-8266-8A8883F4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11</a:t>
            </a:fld>
            <a:endParaRPr lang="en-IN"/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A306CCEE-6160-675B-118D-447D40ED9E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6C746B-4D16-769D-4DA9-2B6F4F47F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5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36C0-57A1-45DC-B37F-3519125E9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906"/>
            <a:ext cx="10515600" cy="1325563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002060"/>
                </a:solidFill>
                <a:latin typeface="Sitka Small Semibold" pitchFamily="2" charset="0"/>
                <a:cs typeface="Times New Roman" panose="02020603050405020304" pitchFamily="18" charset="0"/>
              </a:rPr>
              <a:t>REFERENCE</a:t>
            </a:r>
            <a:endParaRPr lang="en-IN" dirty="0">
              <a:solidFill>
                <a:srgbClr val="002060"/>
              </a:solidFill>
              <a:latin typeface="Sitka Small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AD03-CEB6-4845-8B18-8F687F1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83" y="1737360"/>
            <a:ext cx="11205882" cy="4722425"/>
          </a:xfrm>
        </p:spPr>
        <p:txBody>
          <a:bodyPr>
            <a:norm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828800" algn="l"/>
                <a:tab pos="457200" algn="l"/>
              </a:tabLst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828800" algn="l"/>
                <a:tab pos="457200" algn="l"/>
              </a:tabLst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2">
            <a:extLst>
              <a:ext uri="{FF2B5EF4-FFF2-40B4-BE49-F238E27FC236}">
                <a16:creationId xmlns:a16="http://schemas.microsoft.com/office/drawing/2014/main" id="{3EF9F3C2-32C0-9BEA-220D-394D3568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9D7C-11A9-4349-BA36-890925AE42C3}" type="datetime1">
              <a:rPr lang="en-US" smtClean="0"/>
              <a:t>2/26/2026</a:t>
            </a:fld>
            <a:endParaRPr lang="en-IN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7D60630-3F7E-65BF-A60E-ACD970E1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598" y="6459784"/>
            <a:ext cx="4822804" cy="365125"/>
          </a:xfrm>
        </p:spPr>
        <p:txBody>
          <a:bodyPr/>
          <a:lstStyle/>
          <a:p>
            <a:r>
              <a:rPr lang="en-US" sz="900"/>
              <a:t>National Level Conference on Biomedical &amp; Computing Technologies</a:t>
            </a:r>
            <a:endParaRPr lang="en-US" sz="9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AE263-6681-4FE9-AE3E-CF579694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12</a:t>
            </a:fld>
            <a:endParaRPr lang="en-IN"/>
          </a:p>
        </p:txBody>
      </p:sp>
      <p:pic>
        <p:nvPicPr>
          <p:cNvPr id="5" name="图片">
            <a:extLst>
              <a:ext uri="{FF2B5EF4-FFF2-40B4-BE49-F238E27FC236}">
                <a16:creationId xmlns:a16="http://schemas.microsoft.com/office/drawing/2014/main" id="{9B16710B-62C0-6552-9291-FE109593BA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7D6C76-30C5-149C-9995-D0789406A3DC}"/>
              </a:ext>
            </a:extLst>
          </p:cNvPr>
          <p:cNvSpPr txBox="1"/>
          <p:nvPr/>
        </p:nvSpPr>
        <p:spPr>
          <a:xfrm>
            <a:off x="159918" y="1077902"/>
            <a:ext cx="1158384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[1] J. Ong et al., “Development of oculomics artificial intelligence for cardiovascular risk factors: A case study in fundus oculomics for  HbA1c assessment and clinically relevant considerations for clinicians,” Asia-Pac. J. Ophthalmol., vol. 13, Article 100095, 2024, doi:10.1016/j.apjo.2024.100095.</a:t>
            </a:r>
          </a:p>
          <a:p>
            <a:pPr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[2] V. Gulshan et al., “Development and validation of a deep learning algorithm for detection of diabetic retinopathy,” JAMA, vol. 316, no.22, pp. 2402–2410, 2016, doi: 10.1001/jama.2016.17216.</a:t>
            </a:r>
          </a:p>
          <a:p>
            <a:pPr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[3] K. He, X. Zhang, S. Ren, and J. Sun, “Deep residual learning for image recognition,” in Proc. IEEE Conf. Comput. Vis. Pattern Recognit. (CVPR), Las Vegas, NV, USA, 2016, pp. 770–778, doi:10.1109/CVPR.2016.90.</a:t>
            </a:r>
          </a:p>
          <a:p>
            <a:pPr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[4] H. Zou and T. Hastie, “Regularization and variable selection via the elastic net,” J. R. Stat. Soc. Ser. B Stat. Methodol., vol. 67, no. 2, pp. 301–320, 2005, doi: 10.1111/j.1467-9868.2005.00503.x.</a:t>
            </a:r>
          </a:p>
          <a:p>
            <a:pPr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[5] F. Arnold et al., “HbA1c-dependent projection of long-term renal outcomes,” J. Intern. Med., vol. 295, no. 2, pp. 206–215, 2024, doi: 10.1111/joim.13736.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0FA76-E884-BCDA-3243-A53C7F64D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1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56FD-3B4F-5824-D665-ED8D6DCAC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5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dirty="0">
                <a:solidFill>
                  <a:srgbClr val="002060"/>
                </a:solidFill>
                <a:latin typeface="Sitka Small Semibold" pitchFamily="2" charset="0"/>
                <a:cs typeface="Times New Roman" panose="02020603050405020304" pitchFamily="18" charset="0"/>
              </a:rPr>
              <a:t>Thank you </a:t>
            </a:r>
            <a:endParaRPr lang="en-IN" sz="6000" dirty="0">
              <a:solidFill>
                <a:srgbClr val="002060"/>
              </a:solidFill>
              <a:latin typeface="Sitka Small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34F91-35EA-8757-D17A-D91F7D09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3E74-E0D9-4B46-97FD-168EC82EF069}" type="datetime1">
              <a:rPr lang="en-US" smtClean="0"/>
              <a:t>2/26/2026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2248-59DF-AEB3-BDEB-B1AB0894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Level Conference on Biomedical &amp; Computing Technologies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13D7-F5AA-2089-6212-4C037E82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F5DC6-9E37-401A-8519-FEC038CF71C5}" type="slidenum">
              <a:rPr lang="en-IN" smtClean="0"/>
              <a:t>13</a:t>
            </a:fld>
            <a:endParaRPr lang="en-IN"/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8028AFB3-C737-38E9-E036-83F18CDECB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8513458" y="0"/>
            <a:ext cx="3602980" cy="6685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BCF9CA-4B4E-8662-D156-7DB9328E6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1" b="27552"/>
          <a:stretch>
            <a:fillRect/>
          </a:stretch>
        </p:blipFill>
        <p:spPr>
          <a:xfrm>
            <a:off x="-115529" y="0"/>
            <a:ext cx="1338370" cy="751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2B3EF-9360-01BE-E012-B89FA9A8F8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11" y="124384"/>
            <a:ext cx="2330245" cy="664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98CCD3-0432-6D3C-7577-23C8ABD313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527" y="-229178"/>
            <a:ext cx="1642324" cy="179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3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12292</TotalTime>
  <Words>1328</Words>
  <Application>Microsoft Office PowerPoint</Application>
  <PresentationFormat>Widescreen</PresentationFormat>
  <Paragraphs>196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Sitka Small Semibold</vt:lpstr>
      <vt:lpstr>Times New Roman</vt:lpstr>
      <vt:lpstr>Wingdings</vt:lpstr>
      <vt:lpstr>Office Theme</vt:lpstr>
      <vt:lpstr>HbA1c Prediction from Retinal Fundus Images Using Multimodal Deep Feature Fusion and Ridge Regression </vt:lpstr>
      <vt:lpstr>Introduction</vt:lpstr>
      <vt:lpstr>Problem Statement</vt:lpstr>
      <vt:lpstr>Aim</vt:lpstr>
      <vt:lpstr>Literature Review</vt:lpstr>
      <vt:lpstr>Novelty </vt:lpstr>
      <vt:lpstr>Block diagram/Flow chart</vt:lpstr>
      <vt:lpstr>Methodology/Procedure</vt:lpstr>
      <vt:lpstr>Result</vt:lpstr>
      <vt:lpstr>Discussion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RELIABILITY OF KINOVEA SOFTWARE IN MEASURING SPATIAL PARAMETERS ASSOCIATED WITH PERTURBATION TRAINING</dc:title>
  <dc:creator>jaison jacob</dc:creator>
  <cp:lastModifiedBy>Kaushik R Haran</cp:lastModifiedBy>
  <cp:revision>117</cp:revision>
  <dcterms:created xsi:type="dcterms:W3CDTF">2021-11-29T01:48:00Z</dcterms:created>
  <dcterms:modified xsi:type="dcterms:W3CDTF">2026-02-26T04:15:41Z</dcterms:modified>
</cp:coreProperties>
</file>